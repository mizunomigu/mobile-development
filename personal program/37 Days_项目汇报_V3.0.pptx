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4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4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大家好，今天汇报的是《暑假37天》互动文字游戏。它不是单纯的剧情阅读，而是让玩家在 37 天的暑假里持续做选择、管理状态，并最终得到一段属于自己的假期记录。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配图：miniprogram/images/wall_warm.jpg。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本次汇报按五个部分展开。前两部分说明项目是什么、如何实现；随后用一条可以直接录制的 DEMO 路线展示体验；最后回到研发中真正遇到的问题与收获。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项目的起点很简单：37 天看起来不长，但每天的朋友邀约、家务、休息和突发事件会让它变成不同的生活。我们用逐句叙事、选择结算和模拟手机，把阅读、经营和生活感放到同一个循环里。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配图：miniprogram/images/ke02_huahai.jpg。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项目不是一次性做完的。V2.4 先完善基础状态展示，之后持续解决体验断点，再补充天气、回忆墙和主题系统。到 V3.0，我们不再只看单页功能，而是用真实模拟器完整走完 37 天。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游戏循环中最重要的不是随机事件本身，而是每个环节都能回到玩家的状态上。起床和天气给出当天条件，事件推动故事，结算让选择可见，就寝又把今天的决定带到明天。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技术上我们没有引入后端。项目是一个本地运行的微信小程序，因此架构重点放在前端可维护性和状态一致性上。表现层、引擎层、数据层各自独立，才能在持续加内容时保持稳定。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前端有 6 个页面，今日页是主叙事页，主页、回忆和手机页分别承担状态总览、记录和互动。最关键的结构设计是把手机和设置做成组件，让它们既能在 tab 页独立展示，也能在今日页里作为浮窗出现。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配图：miniprogram/images/bg_morning.jpg。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为了让故事内容可以持续扩充，我们把事件、天气、手机 App、照片槽位都做成数据模块。核心引擎只负责状态变化和规则判断。这样新增一个事件时，主要补数据，不需要把逻辑散落到不同页面。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属性不是简单的分数。心情约束长期拒绝，精力决定今天还能做什么，健康会直接触发疾病和日程变化。我们明确显示上限，并在低值时用红色告警，让玩家能理解自己的状态。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时间系统把一天切成五段，事件按时段组织，关键事件还会有补触发策略。天气在晨起时确定，晴、阴、雨、高温会调整户外和室内事件的数值，但结算不写评价性文案，决定权始终在玩家手里。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配图：miniprogram/images/bg_afternoon.jpg。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事件系统核心是一台五阶段状态机。文本推进、选择、结果和结算都拥有明确状态，所以用户中途打开手机、返回主页或恢复存档时，系统知道应该从哪里继续。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这一页用于播放或切换实机画面。展示顺序是主页、今日剧情、手机联动和回忆留存。讲解时可对应说明状态从开始进入、到事件推进、再到手机交互与回忆记录的完整过程。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除了主循环，项目还做了四类增强体验。模拟手机让事件出现第二个交互面，回忆墙给收集明确进度，主题壁纸让页面氛围统一，回溯则给玩家一次重新选择的机会。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配图：miniprogram/images/ke11_senlin.jpg。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视觉上我们没有让每一页各自设计，而是建立了主题变量。暖、蓝、绿、夜四套主题同时影响页面背景和手机桌面；卡片、按钮、图标与动画也有统一规则。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配图：miniprogram/images/wall_warm.jpg。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第一个问题来自页面跳转，第二个问题来自跨日快照。它们表面不同，但都说明叙事游戏的关键是状态管理。解决方案不是遮掩问题，而是把“何时保存、何时恢复、什么情况下作废”写成明确规则。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这一项目最大的收获是：文字游戏不是只要文本写得好。玩家的体验建立在状态能否连续、选择能否兑现、流程能否稳定走完。先把循环写清楚，再做功能，最后用完整路径验证，会比只看单个页面更可靠。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配图：miniprogram/images/ke06_chufang.jpg。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以上是《暑假37天》项目的研发汇报。这个项目完成的不只是 37 天的内容，也完成了从设计、实现到完整周目验证的闭环。谢谢大家，欢迎提问。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来源：项目 README.md 与《暑假37天》互动文字游戏策划案 V3.0.docx。 配图：miniprogram/images/ke15_huijiao.jpg。</a:t>
            </a:r>
            <a:endParaRPr lang="en-US" sz="12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image" Target="../media/image16.jpeg"/><Relationship Id="rId7" Type="http://schemas.openxmlformats.org/officeDocument/2006/relationships/image" Target="../media/image15.png"/><Relationship Id="rId6" Type="http://schemas.microsoft.com/office/2007/relationships/media" Target="../media/media2.mp4"/><Relationship Id="rId5" Type="http://schemas.openxmlformats.org/officeDocument/2006/relationships/video" Target="../media/media2.mp4"/><Relationship Id="rId4" Type="http://schemas.openxmlformats.org/officeDocument/2006/relationships/image" Target="../media/image14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2.jpeg"/><Relationship Id="rId2" Type="http://schemas.openxmlformats.org/officeDocument/2006/relationships/image" Target="../media/image19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89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34185" b="341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72320" y="1114425"/>
            <a:ext cx="3735705" cy="49809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5390" y="0"/>
            <a:ext cx="51435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2890" y="254000"/>
            <a:ext cx="4762500" cy="6350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2559026" y="1417024"/>
            <a:ext cx="1510566" cy="1510566"/>
          </a:xfrm>
          <a:prstGeom prst="rect">
            <a:avLst/>
          </a:prstGeom>
          <a:noFill/>
          <a:ln w="762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681E4">
              <a:alpha val="74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12192000" cy="247650"/>
          </a:xfrm>
          <a:prstGeom prst="roundRect">
            <a:avLst>
              <a:gd name="adj" fmla="val 0"/>
            </a:avLst>
          </a:prstGeom>
          <a:solidFill>
            <a:srgbClr val="FFFFFF">
              <a:alpha val="32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7810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833120"/>
            <a:ext cx="1200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 · 项目研发汇报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" y="1695450"/>
            <a:ext cx="5048250" cy="723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1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37 </a:t>
            </a:r>
            <a:r>
              <a:rPr lang="en-US" sz="41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Days</a:t>
            </a:r>
            <a:endParaRPr lang="en-US" sz="415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" y="2495550"/>
            <a:ext cx="4572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50" b="1" i="0" u="none" strike="noStrike">
                <a:solidFill>
                  <a:srgbClr val="E7F6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互动文字游戏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" y="3219450"/>
            <a:ext cx="56197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0" i="0" u="none" strike="noStrike">
                <a:solidFill>
                  <a:srgbClr val="DDF4FF"/>
                </a:solidFill>
                <a:latin typeface="Noto Sans SC"/>
                <a:ea typeface="Noto Sans SC"/>
                <a:cs typeface="Noto Sans SC"/>
                <a:sym typeface="Noto Sans SC"/>
              </a:rPr>
              <a:t>把一段暑假，做成可以亲自走完的 37 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" y="4476750"/>
            <a:ext cx="5810250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" y="4724400"/>
            <a:ext cx="5334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V3.0 · 原生微信小程序 · TypeScript / WXML / WXSS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" y="6096000"/>
            <a:ext cx="49530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000" b="0" i="0" u="none" strike="noStrike">
                <a:solidFill>
                  <a:srgbClr val="CFE5FF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 年 9 月 19 </a:t>
            </a:r>
            <a:r>
              <a:rPr lang="zh-CN" altLang="en-US" sz="1000" b="0" i="0" u="none" strike="noStrike">
                <a:solidFill>
                  <a:srgbClr val="CFE5FF"/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zh-CN" altLang="en-US" sz="1000" b="0" i="0" u="none" strike="noStrike">
              <a:solidFill>
                <a:srgbClr val="CFE5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REPORT OUTLINE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从项目定位到工程验证，再回到研发过程中的思考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6300" y="1981200"/>
            <a:ext cx="104013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43000" y="2143125"/>
            <a:ext cx="685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90750" y="211455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项目基本情况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29250" y="2152650"/>
            <a:ext cx="4667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定位、玩法与版本演进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76300" y="2762250"/>
            <a:ext cx="104013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43000" y="2924175"/>
            <a:ext cx="685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190750" y="289560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实际架构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29250" y="2933700"/>
            <a:ext cx="4667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前端、数据与核心引擎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" y="3543300"/>
            <a:ext cx="10401300" cy="571500"/>
          </a:xfrm>
          <a:prstGeom prst="roundRect">
            <a:avLst>
              <a:gd name="adj" fmla="val 20000"/>
            </a:avLst>
          </a:prstGeom>
          <a:solidFill>
            <a:srgbClr val="E7F6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3705225"/>
            <a:ext cx="685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190750" y="367665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项目展示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429250" y="3714750"/>
            <a:ext cx="4667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DEMO 展示与特色功能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6300" y="4324350"/>
            <a:ext cx="104013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43000" y="4486275"/>
            <a:ext cx="685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190750" y="445770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问题与解决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429250" y="4495800"/>
            <a:ext cx="4667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两个真实的状态一致性难题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76300" y="5105400"/>
            <a:ext cx="104013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143000" y="5267325"/>
            <a:ext cx="685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190750" y="523875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研发体会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429250" y="5276850"/>
            <a:ext cx="4667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验证方法与下一步计划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PROJECT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项目基本情况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单人对话推进式互动文字游戏，围绕一个完整暑假构建体验闭环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l="9732" r="9733"/>
          <a:stretch>
            <a:fillRect/>
          </a:stretch>
        </p:blipFill>
        <p:spPr>
          <a:xfrm>
            <a:off x="7086600" y="1962150"/>
            <a:ext cx="4095750" cy="3448050"/>
          </a:xfrm>
          <a:prstGeom prst="roundRect">
            <a:avLst>
              <a:gd name="adj" fmla="val 6630"/>
            </a:avLst>
          </a:prstGeom>
          <a:ln w="12700">
            <a:noFill/>
            <a:prstDash val="solid"/>
          </a:ln>
        </p:spPr>
      </p:pic>
      <p:sp>
        <p:nvSpPr>
          <p:cNvPr id="13" name="AutoShape 13"/>
          <p:cNvSpPr/>
          <p:nvPr/>
        </p:nvSpPr>
        <p:spPr>
          <a:xfrm>
            <a:off x="647700" y="1962150"/>
            <a:ext cx="5943600" cy="3448050"/>
          </a:xfrm>
          <a:prstGeom prst="roundRect">
            <a:avLst>
              <a:gd name="adj" fmla="val 663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90600" y="2324100"/>
            <a:ext cx="5048250" cy="552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玩家从高铁站回到家，开始一段 37 天的暑假。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28700" y="31908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57300" y="3181350"/>
            <a:ext cx="4724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文字冒险：旁白逐句推进，选择后输出对应结果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28700" y="36480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57300" y="3638550"/>
            <a:ext cx="4724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属性经营：心情、精力、健康共同影响日常体验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28700" y="41052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57300" y="4095750"/>
            <a:ext cx="4724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模拟手机：闹钟、聊天、相机等 App 进入剧情流程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28700" y="45624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257300" y="4552950"/>
            <a:ext cx="4724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回忆留存：剧情照片、日记与周目记录共同沉淀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90600" y="4953000"/>
            <a:ext cx="50482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设计目标：让“过暑假”这件事既有故事感，也有选择的代价。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PROJECT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版本迭代轨迹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从可玩原型，到完整周目可稳定走通的产品版本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514600"/>
            <a:ext cx="2209800" cy="1543050"/>
          </a:xfrm>
          <a:prstGeom prst="roundRect">
            <a:avLst>
              <a:gd name="adj" fmla="val 148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90600" y="2724150"/>
            <a:ext cx="1714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V2.4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90600" y="310515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原型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90600" y="3505200"/>
            <a:ext cx="16954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属性上限与告警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86100" y="3038475"/>
            <a:ext cx="3238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86150" y="2514600"/>
            <a:ext cx="2209800" cy="1543050"/>
          </a:xfrm>
          <a:prstGeom prst="roundRect">
            <a:avLst>
              <a:gd name="adj" fmla="val 148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714750" y="2724150"/>
            <a:ext cx="1714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V2.5–V2.7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14750" y="310515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体验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14750" y="3505200"/>
            <a:ext cx="16954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页内浮窗、快照、横屏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810250" y="3038475"/>
            <a:ext cx="3238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10300" y="2514600"/>
            <a:ext cx="2209800" cy="1543050"/>
          </a:xfrm>
          <a:prstGeom prst="roundRect">
            <a:avLst>
              <a:gd name="adj" fmla="val 148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38900" y="2724150"/>
            <a:ext cx="1714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V2.8–V2.9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38900" y="310515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沉浸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38900" y="3505200"/>
            <a:ext cx="16954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壁纸、天气、回忆墙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534400" y="3038475"/>
            <a:ext cx="3238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934450" y="2514600"/>
            <a:ext cx="2209800" cy="1543050"/>
          </a:xfrm>
          <a:prstGeom prst="roundRect">
            <a:avLst>
              <a:gd name="adj" fmla="val 14815"/>
            </a:avLst>
          </a:prstGeom>
          <a:solidFill>
            <a:srgbClr val="2589E8">
              <a:alpha val="100000"/>
            </a:srgbClr>
          </a:solidFill>
          <a:ln w="12700">
            <a:solidFill>
              <a:srgbClr val="2589E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63050" y="2724150"/>
            <a:ext cx="1714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V3.0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63050" y="310515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验证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63050" y="3505200"/>
            <a:ext cx="16954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DF4FF"/>
                </a:solidFill>
                <a:latin typeface="Noto Sans SC"/>
                <a:ea typeface="Noto Sans SC"/>
                <a:cs typeface="Noto Sans SC"/>
                <a:sym typeface="Noto Sans SC"/>
              </a:rPr>
              <a:t>37 天整周目预演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619250" y="4667250"/>
            <a:ext cx="2095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809750" y="4838700"/>
            <a:ext cx="17145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37 天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790700" y="5305425"/>
            <a:ext cx="17526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真实模拟器完整走通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048250" y="4667250"/>
            <a:ext cx="2095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238750" y="4838700"/>
            <a:ext cx="17145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42C7A0"/>
                </a:solidFill>
                <a:latin typeface="Noto Sans SC"/>
                <a:ea typeface="Noto Sans SC"/>
                <a:cs typeface="Noto Sans SC"/>
                <a:sym typeface="Noto Sans SC"/>
              </a:rPr>
              <a:t>48 组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219700" y="5305425"/>
            <a:ext cx="17526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回归用例全绿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477250" y="4667250"/>
            <a:ext cx="2095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667750" y="4838700"/>
            <a:ext cx="17145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FFB649"/>
                </a:solidFill>
                <a:latin typeface="Noto Sans SC"/>
                <a:ea typeface="Noto Sans SC"/>
                <a:cs typeface="Noto Sans SC"/>
                <a:sym typeface="Noto Sans SC"/>
              </a:rPr>
              <a:t>60 局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648700" y="5305425"/>
            <a:ext cx="17526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无头仿真全命中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PROJECT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核心玩法循环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每一天都围绕“时间推进、事件选择、状态结算”展开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" y="2800350"/>
            <a:ext cx="19240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" y="29718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" y="3038475"/>
            <a:ext cx="3619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6350" y="2952750"/>
            <a:ext cx="1143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晨起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76350" y="3257550"/>
            <a:ext cx="11430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起床时刻与当天天气确定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590800" y="3181350"/>
            <a:ext cx="2286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819400" y="2800350"/>
            <a:ext cx="19240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971800" y="29718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971800" y="3038475"/>
            <a:ext cx="3619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48050" y="2952750"/>
            <a:ext cx="1143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旁白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48050" y="3257550"/>
            <a:ext cx="11430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按时段逐句进入当日故事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762500" y="3181350"/>
            <a:ext cx="2286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991100" y="2800350"/>
            <a:ext cx="19240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143500" y="29718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143500" y="3038475"/>
            <a:ext cx="3619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619750" y="2952750"/>
            <a:ext cx="1143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619750" y="3257550"/>
            <a:ext cx="11430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从事件卡中决定今天怎么过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934200" y="3181350"/>
            <a:ext cx="2286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62800" y="2800350"/>
            <a:ext cx="19240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15200" y="29718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15200" y="3038475"/>
            <a:ext cx="3619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791450" y="2952750"/>
            <a:ext cx="1143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结算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791450" y="3257550"/>
            <a:ext cx="11430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属性、照片、任务进度同步变化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05900" y="3181350"/>
            <a:ext cx="2286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334500" y="2800350"/>
            <a:ext cx="19240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486900" y="29718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486900" y="3038475"/>
            <a:ext cx="3619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963150" y="2952750"/>
            <a:ext cx="1143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就寝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963150" y="3257550"/>
            <a:ext cx="11430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设闹钟或熬夜，影响明天起点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2114550" y="4947920"/>
            <a:ext cx="7962900" cy="723900"/>
          </a:xfrm>
          <a:prstGeom prst="roundRect">
            <a:avLst>
              <a:gd name="adj" fmla="val 21052"/>
            </a:avLst>
          </a:prstGeom>
          <a:solidFill>
            <a:srgbClr val="E8F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2457450" y="5180965"/>
            <a:ext cx="7239000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37 天后，根据这段时间的属性、选择与隐藏条件，生成本周目的结局并保留回忆。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项目实际架构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三层组织：表现层负责体验，核心引擎负责规则，数据与存储保证内容可配置、状态可恢复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28750" y="2133600"/>
            <a:ext cx="9334500" cy="857250"/>
          </a:xfrm>
          <a:prstGeom prst="roundRect">
            <a:avLst>
              <a:gd name="adj" fmla="val 1777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28750" y="2133600"/>
            <a:ext cx="2143125" cy="857250"/>
          </a:xfrm>
          <a:prstGeom prst="roundRect">
            <a:avLst>
              <a:gd name="adj" fmla="val 17776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95450" y="2419350"/>
            <a:ext cx="16192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81450" y="2428875"/>
            <a:ext cx="6191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6 个页面 + 自定义 tabBar + 2 个复用组件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28750" y="3295650"/>
            <a:ext cx="9334500" cy="857250"/>
          </a:xfrm>
          <a:prstGeom prst="roundRect">
            <a:avLst>
              <a:gd name="adj" fmla="val 1777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28750" y="3295650"/>
            <a:ext cx="2143125" cy="857250"/>
          </a:xfrm>
          <a:prstGeom prst="roundRect">
            <a:avLst>
              <a:gd name="adj" fmla="val 17776"/>
            </a:avLst>
          </a:prstGeom>
          <a:solidFill>
            <a:srgbClr val="8B73E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95450" y="3581400"/>
            <a:ext cx="16192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引擎层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981450" y="3590925"/>
            <a:ext cx="6191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事件推进 / 时间调度 / 属性结算 / 睡眠与结局 / 快照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28750" y="4457700"/>
            <a:ext cx="9334500" cy="857250"/>
          </a:xfrm>
          <a:prstGeom prst="roundRect">
            <a:avLst>
              <a:gd name="adj" fmla="val 1777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428750" y="4457700"/>
            <a:ext cx="2143125" cy="857250"/>
          </a:xfrm>
          <a:prstGeom prst="roundRect">
            <a:avLst>
              <a:gd name="adj" fmla="val 17776"/>
            </a:avLst>
          </a:prstGeom>
          <a:solidFill>
            <a:srgbClr val="42C7A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695450" y="4743450"/>
            <a:ext cx="16192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数据与存储层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981450" y="4752975"/>
            <a:ext cx="6191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事件库 / 主题与背景 / App 数据 / 本地存档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676400" y="5867400"/>
            <a:ext cx="88582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运行形态：微信小程序 · TypeScript + WXML + WXSS · 纯本地存储 · 无云能力、无需登录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前端与页面组织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页面承载叙事节奏，组件解决跨页面复用与中途交互的问题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r">
              <a:lnSpc>
                <a:spcPct val="92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2159000"/>
            <a:ext cx="6350000" cy="3810000"/>
          </a:xfrm>
          <a:prstGeom prst="roundRect">
            <a:avLst>
              <a:gd name="adj" fmla="val 533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" y="2159000"/>
            <a:ext cx="6350000" cy="635000"/>
          </a:xfrm>
          <a:prstGeom prst="roundRect">
            <a:avLst>
              <a:gd name="adj" fmla="val 32000"/>
            </a:avLst>
          </a:prstGeom>
          <a:solidFill>
            <a:srgbClr val="8FAAD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43000" y="2159000"/>
            <a:ext cx="5842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 个页面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43000" y="3175000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3175000"/>
            <a:ext cx="2794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主页 home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91000" y="3175000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191000" y="3175000"/>
            <a:ext cx="2794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今日页 today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4064000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43000" y="4064000"/>
            <a:ext cx="2794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日记 diary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191000" y="4064000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191000" y="4064000"/>
            <a:ext cx="2794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回忆 memory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43000" y="4953000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43000" y="4953000"/>
            <a:ext cx="2794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手机 phone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191000" y="4953000"/>
            <a:ext cx="2794000" cy="698500"/>
          </a:xfrm>
          <a:prstGeom prst="roundRect">
            <a:avLst>
              <a:gd name="adj" fmla="val 14545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191000" y="4953000"/>
            <a:ext cx="2794000" cy="698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 settings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239000" y="2159000"/>
            <a:ext cx="4064000" cy="3810000"/>
          </a:xfrm>
          <a:prstGeom prst="roundRect">
            <a:avLst>
              <a:gd name="adj" fmla="val 533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39000" y="2159000"/>
            <a:ext cx="4064000" cy="635000"/>
          </a:xfrm>
          <a:prstGeom prst="roundRect">
            <a:avLst>
              <a:gd name="adj" fmla="val 32000"/>
            </a:avLst>
          </a:prstGeom>
          <a:solidFill>
            <a:srgbClr val="0070B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493000" y="2159000"/>
            <a:ext cx="3556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两个复用组件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93000" y="3175000"/>
            <a:ext cx="3556000" cy="1270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phone-panel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手机功能面板组件</a:t>
            </a:r>
            <a:endParaRPr lang="en-US" sz="1400" b="0" i="0" u="none" strike="noStrike">
              <a:solidFill>
                <a:srgbClr val="071D4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493000" y="4572000"/>
            <a:ext cx="3556000" cy="1270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settings-panel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设置功能面板组件</a:t>
            </a:r>
            <a:endParaRPr lang="en-US" sz="1400" b="0" i="0" u="none" strike="noStrike">
              <a:solidFill>
                <a:srgbClr val="071D4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016000" y="6096000"/>
            <a:ext cx="10160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关键前端策略：打开手机或设置时不离开今日页，让叙事可原地接续。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数据层与核心引擎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内容数据与规则逻辑分离，事件新增和数值调整不需要改动页面代码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81150" y="5862320"/>
            <a:ext cx="91440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7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数据定义“发生什么”，引擎定义“何时发生、发生后如何改变状态”。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r">
              <a:lnSpc>
                <a:spcPct val="92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" y="2159000"/>
            <a:ext cx="4953000" cy="3556000"/>
          </a:xfrm>
          <a:prstGeom prst="roundRect">
            <a:avLst>
              <a:gd name="adj" fmla="val 571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2159000"/>
            <a:ext cx="4953000" cy="635000"/>
          </a:xfrm>
          <a:prstGeom prst="roundRect">
            <a:avLst>
              <a:gd name="adj" fmla="val 32000"/>
            </a:avLst>
          </a:prstGeom>
          <a:solidFill>
            <a:srgbClr val="8FAAD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43000" y="2159000"/>
            <a:ext cx="4445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数据模块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3048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43000" y="3048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events.ts 事件库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3683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3683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appData.ts 手机 App 数据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43000" y="4318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43000" y="4318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themes.ts 主题配置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143000" y="4953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43000" y="4953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storage.ts 本地存储层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2159000"/>
            <a:ext cx="4953000" cy="3556000"/>
          </a:xfrm>
          <a:prstGeom prst="roundRect">
            <a:avLst>
              <a:gd name="adj" fmla="val 571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2159000"/>
            <a:ext cx="4953000" cy="635000"/>
          </a:xfrm>
          <a:prstGeom prst="roundRect">
            <a:avLst>
              <a:gd name="adj" fmla="val 32000"/>
            </a:avLst>
          </a:prstGeom>
          <a:solidFill>
            <a:srgbClr val="0070B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2159000"/>
            <a:ext cx="4445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工具模块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3048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604000" y="3048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engine.ts 状态机引擎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04000" y="3683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04000" y="3683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scheduler.ts 时间调度器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604000" y="4318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04000" y="4318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effects.ts 属性结算器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604000" y="4953000"/>
            <a:ext cx="4445000" cy="508000"/>
          </a:xfrm>
          <a:prstGeom prst="roundRect">
            <a:avLst>
              <a:gd name="adj" fmla="val 20000"/>
            </a:avLst>
          </a:prstGeom>
          <a:solidFill>
            <a:srgbClr val="F0F9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04000" y="4953000"/>
            <a:ext cx="444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snapshot.ts 快照管理器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属性系统与数值反馈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三项属性贯穿 37 天，既用于可视化反馈，也参与事件与结局判定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2362200"/>
            <a:ext cx="2857500" cy="228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24050" y="26193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FFB64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38250" y="3714750"/>
            <a:ext cx="22098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心情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38250" y="4048125"/>
            <a:ext cx="2209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FFB649"/>
                </a:solidFill>
                <a:latin typeface="Noto Sans SC"/>
                <a:ea typeface="Noto Sans SC"/>
                <a:cs typeface="Noto Sans SC"/>
                <a:sym typeface="Noto Sans SC"/>
              </a:rPr>
              <a:t>0–100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38250" y="4381500"/>
            <a:ext cx="2209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长期全拒会消耗心情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00550" y="2362200"/>
            <a:ext cx="2857500" cy="228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10200" y="26193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24400" y="3714750"/>
            <a:ext cx="22098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精力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24400" y="4048125"/>
            <a:ext cx="2209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0–150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24400" y="4381500"/>
            <a:ext cx="2209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影响起床、熬夜与行动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86700" y="2362200"/>
            <a:ext cx="2857500" cy="228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6350" y="2619375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42C7A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10550" y="3714750"/>
            <a:ext cx="22098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健康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10550" y="4048125"/>
            <a:ext cx="2209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25" b="1" i="0" u="none" strike="noStrike">
                <a:solidFill>
                  <a:srgbClr val="42C7A0"/>
                </a:solidFill>
                <a:latin typeface="Noto Sans SC"/>
                <a:ea typeface="Noto Sans SC"/>
                <a:cs typeface="Noto Sans SC"/>
                <a:sym typeface="Noto Sans SC"/>
              </a:rPr>
              <a:t>0–100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10550" y="4381500"/>
            <a:ext cx="2209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过低触发分档疾病事件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905000" y="5257800"/>
            <a:ext cx="8382000" cy="571500"/>
          </a:xfrm>
          <a:prstGeom prst="roundRect">
            <a:avLst>
              <a:gd name="adj" fmla="val 26665"/>
            </a:avLst>
          </a:prstGeom>
          <a:solidFill>
            <a:srgbClr val="E8F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209800" y="5429250"/>
            <a:ext cx="777240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低于上限 30% 时，数值与进度条进入红色告警，提示玩家调整节奏。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42070" y="2689225"/>
            <a:ext cx="736600" cy="7366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8300" y="2676525"/>
            <a:ext cx="762000" cy="762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4695" y="2701925"/>
            <a:ext cx="687705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时间与天气系统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让每天的节奏有前因后果，也让“出门还是宅家”的选择因环境不同而改变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t="28255" b="28254"/>
          <a:stretch>
            <a:fillRect/>
          </a:stretch>
        </p:blipFill>
        <p:spPr>
          <a:xfrm>
            <a:off x="7124700" y="2095500"/>
            <a:ext cx="4038600" cy="3124200"/>
          </a:xfrm>
          <a:prstGeom prst="roundRect">
            <a:avLst>
              <a:gd name="adj" fmla="val 7317"/>
            </a:avLst>
          </a:prstGeom>
          <a:ln w="12700">
            <a:noFill/>
            <a:prstDash val="solid"/>
          </a:ln>
        </p:spPr>
      </p:pic>
      <p:sp>
        <p:nvSpPr>
          <p:cNvPr id="13" name="AutoShape 13"/>
          <p:cNvSpPr/>
          <p:nvPr/>
        </p:nvSpPr>
        <p:spPr>
          <a:xfrm>
            <a:off x="704850" y="2095500"/>
            <a:ext cx="5810250" cy="3124200"/>
          </a:xfrm>
          <a:prstGeom prst="roundRect">
            <a:avLst>
              <a:gd name="adj" fmla="val 731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28700" y="243840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一天分为五个时段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28700" y="2909570"/>
            <a:ext cx="819150" cy="400050"/>
          </a:xfrm>
          <a:prstGeom prst="roundRect">
            <a:avLst>
              <a:gd name="adj" fmla="val 28569"/>
            </a:avLst>
          </a:prstGeom>
          <a:solidFill>
            <a:srgbClr val="EEF8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66800" y="2948305"/>
            <a:ext cx="7429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上午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00250" y="2909570"/>
            <a:ext cx="819150" cy="400050"/>
          </a:xfrm>
          <a:prstGeom prst="roundRect">
            <a:avLst>
              <a:gd name="adj" fmla="val 28569"/>
            </a:avLst>
          </a:prstGeom>
          <a:solidFill>
            <a:srgbClr val="EEF8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38350" y="2948305"/>
            <a:ext cx="7429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午间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971800" y="2909570"/>
            <a:ext cx="819150" cy="400050"/>
          </a:xfrm>
          <a:prstGeom prst="roundRect">
            <a:avLst>
              <a:gd name="adj" fmla="val 28569"/>
            </a:avLst>
          </a:prstGeom>
          <a:solidFill>
            <a:srgbClr val="EEF8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009900" y="2948305"/>
            <a:ext cx="7429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下午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943350" y="2909570"/>
            <a:ext cx="819150" cy="400050"/>
          </a:xfrm>
          <a:prstGeom prst="roundRect">
            <a:avLst>
              <a:gd name="adj" fmla="val 28569"/>
            </a:avLst>
          </a:prstGeom>
          <a:solidFill>
            <a:srgbClr val="EEF8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981450" y="2948305"/>
            <a:ext cx="7429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晚间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914900" y="2909570"/>
            <a:ext cx="819150" cy="400050"/>
          </a:xfrm>
          <a:prstGeom prst="roundRect">
            <a:avLst>
              <a:gd name="adj" fmla="val 28569"/>
            </a:avLst>
          </a:prstGeom>
          <a:solidFill>
            <a:srgbClr val="EEF8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953000" y="2948305"/>
            <a:ext cx="7429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深夜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66800" y="37242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295400" y="3714750"/>
            <a:ext cx="48196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起床时刻由昨晚就寝时唯一确定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66800" y="41052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295400" y="4095750"/>
            <a:ext cx="48196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固定关键事件优先，错过时可补触发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66800" y="448627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295400" y="4476750"/>
            <a:ext cx="48196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23:00 进入就寝决策并写入次日状态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486650" y="2495550"/>
            <a:ext cx="1371600" cy="685800"/>
          </a:xfrm>
          <a:prstGeom prst="roundRect">
            <a:avLst>
              <a:gd name="adj" fmla="val 16667"/>
            </a:avLst>
          </a:prstGeom>
          <a:solidFill>
            <a:srgbClr val="FFB649">
              <a:alpha val="18000"/>
            </a:srgbClr>
          </a:solidFill>
          <a:ln w="12700">
            <a:solidFill>
              <a:srgbClr val="FFB64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86650" y="2686050"/>
            <a:ext cx="1371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B649"/>
                </a:solidFill>
                <a:latin typeface="Noto Sans SC"/>
                <a:ea typeface="Noto Sans SC"/>
                <a:cs typeface="Noto Sans SC"/>
                <a:sym typeface="Noto Sans SC"/>
              </a:rPr>
              <a:t>晴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01150" y="2495550"/>
            <a:ext cx="1371600" cy="685800"/>
          </a:xfrm>
          <a:prstGeom prst="roundRect">
            <a:avLst>
              <a:gd name="adj" fmla="val 16667"/>
            </a:avLst>
          </a:prstGeom>
          <a:solidFill>
            <a:srgbClr val="8397AE">
              <a:alpha val="18000"/>
            </a:srgbClr>
          </a:solidFill>
          <a:ln w="12700">
            <a:solidFill>
              <a:srgbClr val="8397A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201150" y="2686050"/>
            <a:ext cx="1371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8397AE"/>
                </a:solidFill>
                <a:latin typeface="Noto Sans SC"/>
                <a:ea typeface="Noto Sans SC"/>
                <a:cs typeface="Noto Sans SC"/>
                <a:sym typeface="Noto Sans SC"/>
              </a:rPr>
              <a:t>阴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486650" y="3524250"/>
            <a:ext cx="1371600" cy="685800"/>
          </a:xfrm>
          <a:prstGeom prst="roundRect">
            <a:avLst>
              <a:gd name="adj" fmla="val 16667"/>
            </a:avLst>
          </a:prstGeom>
          <a:solidFill>
            <a:srgbClr val="2589E8">
              <a:alpha val="18000"/>
            </a:srgbClr>
          </a:solidFill>
          <a:ln w="12700">
            <a:solidFill>
              <a:srgbClr val="2589E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486650" y="3714750"/>
            <a:ext cx="1371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雨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01150" y="3524250"/>
            <a:ext cx="1371600" cy="685800"/>
          </a:xfrm>
          <a:prstGeom prst="roundRect">
            <a:avLst>
              <a:gd name="adj" fmla="val 16667"/>
            </a:avLst>
          </a:prstGeom>
          <a:solidFill>
            <a:srgbClr val="FF7D73">
              <a:alpha val="18000"/>
            </a:srgbClr>
          </a:solidFill>
          <a:ln w="12700">
            <a:solidFill>
              <a:srgbClr val="FF7D7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201150" y="3714750"/>
            <a:ext cx="1371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7D73"/>
                </a:solidFill>
                <a:latin typeface="Noto Sans SC"/>
                <a:ea typeface="Noto Sans SC"/>
                <a:cs typeface="Noto Sans SC"/>
                <a:sym typeface="Noto Sans SC"/>
              </a:rPr>
              <a:t>高温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334250" y="4762500"/>
            <a:ext cx="3619500" cy="361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天气晨起确定一次，当天保持不变；它只改变数值，不评判玩家。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事件系统与叙事推进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以五阶段状态机控制文本、选择、结果和结算，避免交互与状态脱节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" y="2647950"/>
            <a:ext cx="1866900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8200" y="2914650"/>
            <a:ext cx="15621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INTRO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5350" y="3390900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时段前置旁白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562225" y="3067050"/>
            <a:ext cx="2476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876550" y="2647950"/>
            <a:ext cx="1866900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28950" y="2914650"/>
            <a:ext cx="15621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NARRATE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86100" y="3390900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逐句叙事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52975" y="3067050"/>
            <a:ext cx="2476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67300" y="2647950"/>
            <a:ext cx="1866900" cy="1257300"/>
          </a:xfrm>
          <a:prstGeom prst="roundRect">
            <a:avLst>
              <a:gd name="adj" fmla="val 12121"/>
            </a:avLst>
          </a:prstGeom>
          <a:solidFill>
            <a:srgbClr val="2589E8">
              <a:alpha val="100000"/>
            </a:srgbClr>
          </a:solidFill>
          <a:ln w="12700">
            <a:solidFill>
              <a:srgbClr val="2589E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19700" y="2914650"/>
            <a:ext cx="15621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OPTIONS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76850" y="3390900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DF4FF"/>
                </a:solidFill>
                <a:latin typeface="Noto Sans SC"/>
                <a:ea typeface="Noto Sans SC"/>
                <a:cs typeface="Noto Sans SC"/>
                <a:sym typeface="Noto Sans SC"/>
              </a:rPr>
              <a:t>展示选择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43725" y="3067050"/>
            <a:ext cx="2476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58050" y="2647950"/>
            <a:ext cx="1866900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10450" y="2914650"/>
            <a:ext cx="15621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RESULT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67600" y="3390900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逐句结果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34475" y="3067050"/>
            <a:ext cx="2476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448800" y="2647950"/>
            <a:ext cx="1866900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01200" y="2914650"/>
            <a:ext cx="15621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EFFECT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658350" y="3390900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属性结算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14450" y="4619625"/>
            <a:ext cx="9563100" cy="685800"/>
          </a:xfrm>
          <a:prstGeom prst="roundRect">
            <a:avLst>
              <a:gd name="adj" fmla="val 22221"/>
            </a:avLst>
          </a:prstGeom>
          <a:solidFill>
            <a:srgbClr val="E8F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657350" y="4829175"/>
            <a:ext cx="8877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手机联动会在结果文本显示前暂停。玩家完成闹钟、聊天或拍照后，回到原位置继续阅读。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1388"/>
          <a:stretch>
            <a:fillRect/>
          </a:stretch>
        </p:blipFill>
        <p:spPr>
          <a:xfrm>
            <a:off x="8747125" y="1706245"/>
            <a:ext cx="1970405" cy="37922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7115" y="1722120"/>
            <a:ext cx="1974215" cy="3632200"/>
          </a:xfrm>
          <a:prstGeom prst="rect">
            <a:avLst/>
          </a:prstGeom>
          <a:noFill/>
          <a:ln w="12700">
            <a:noFill/>
            <a:prstDash val="solid"/>
          </a:ln>
        </p:spPr>
      </p:pic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69640" y="1731645"/>
            <a:ext cx="1974215" cy="3631565"/>
          </a:xfrm>
          <a:prstGeom prst="rect">
            <a:avLst/>
          </a:prstGeom>
          <a:noFill/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rcRect t="11389" b="-815"/>
          <a:stretch>
            <a:fillRect/>
          </a:stretch>
        </p:blipFill>
        <p:spPr>
          <a:xfrm>
            <a:off x="861695" y="1737995"/>
            <a:ext cx="1993265" cy="38722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DEMO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</a:t>
            </a: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DEMO展示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" y="1343025"/>
            <a:ext cx="8382000" cy="247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从主页到回忆墙，完整展示游戏核心体验流程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295400" y="3829050"/>
            <a:ext cx="1066800" cy="190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57250" y="5314950"/>
            <a:ext cx="1981200" cy="800100"/>
          </a:xfrm>
          <a:prstGeom prst="roundRect">
            <a:avLst>
              <a:gd name="adj" fmla="val 19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90600" y="5457825"/>
            <a:ext cx="1714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01 主页状态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90600" y="5734050"/>
            <a:ext cx="1714500" cy="2571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6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主界面显示第1天、37天进度与属性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86150" y="5314950"/>
            <a:ext cx="1981200" cy="800100"/>
          </a:xfrm>
          <a:prstGeom prst="roundRect">
            <a:avLst>
              <a:gd name="adj" fmla="val 19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619500" y="5457825"/>
            <a:ext cx="1714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02 剧情推进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9500" y="5734050"/>
            <a:ext cx="1714500" cy="2571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6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今日页逐句叙事，弹出事件选择框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15050" y="5314950"/>
            <a:ext cx="1981200" cy="800100"/>
          </a:xfrm>
          <a:prstGeom prst="roundRect">
            <a:avLst>
              <a:gd name="adj" fmla="val 19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48400" y="5457825"/>
            <a:ext cx="1714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03 手机联动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48400" y="5734050"/>
            <a:ext cx="1714500" cy="2571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6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模拟手机App，闹钟聊天等参与剧情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743950" y="5314950"/>
            <a:ext cx="1981200" cy="800100"/>
          </a:xfrm>
          <a:prstGeom prst="roundRect">
            <a:avLst>
              <a:gd name="adj" fmla="val 19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77300" y="5457825"/>
            <a:ext cx="1714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04 回忆留存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77300" y="5734050"/>
            <a:ext cx="1714500" cy="2571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6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10格剧情照片墙，逐步解锁收集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447800" y="6115050"/>
            <a:ext cx="925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5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展示顺序：主页 → 今日剧情 → 手机联动 → 回忆留存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DEMO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特色功能展示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用持续可见的状态与可收集的回忆，让玩家感到每一天都留下痕迹</a:t>
            </a:r>
            <a:r>
              <a:rPr lang="zh-CN" altLang="en-US" sz="1025" b="0" i="0" u="none" strike="noStrike">
                <a:solidFill>
                  <a:srgbClr val="6481A5"/>
                </a:solidFill>
                <a:latin typeface="Noto Sans SC"/>
                <a:ea typeface="宋体" charset="0"/>
                <a:cs typeface="Noto Sans SC"/>
                <a:sym typeface="Noto Sans SC"/>
              </a:rPr>
              <a:t>，可以拍张照、随手写、甚至玩玩</a:t>
            </a:r>
            <a:r>
              <a:rPr lang="zh-CN" altLang="en-US" sz="1025" b="0" i="0" u="none" strike="noStrike">
                <a:solidFill>
                  <a:srgbClr val="6481A5"/>
                </a:solidFill>
                <a:latin typeface="Noto Sans SC"/>
                <a:ea typeface="宋体" charset="0"/>
                <a:cs typeface="Noto Sans SC"/>
                <a:sym typeface="Noto Sans SC"/>
              </a:rPr>
              <a:t>小游戏</a:t>
            </a:r>
            <a:endParaRPr lang="zh-CN" altLang="en-US" sz="1025" b="0" i="0" u="none" strike="noStrike">
              <a:solidFill>
                <a:srgbClr val="6481A5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1050" y="2266950"/>
            <a:ext cx="26479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90600" y="2457450"/>
            <a:ext cx="2095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模拟手机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90600" y="2800350"/>
            <a:ext cx="21526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13 个 App 参与剧情，不只是装饰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572500" y="2291080"/>
            <a:ext cx="26479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782050" y="2481580"/>
            <a:ext cx="2095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回忆墙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82050" y="2824480"/>
            <a:ext cx="21526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10 格剧情照片从开局可见，逐步解锁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1050" y="3657600"/>
            <a:ext cx="26479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90600" y="3848100"/>
            <a:ext cx="2095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主题壁纸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90600" y="4191000"/>
            <a:ext cx="21526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暖、蓝、绿、夜四套主题，页面与桌面联动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72500" y="3681730"/>
            <a:ext cx="2647950" cy="1066800"/>
          </a:xfrm>
          <a:prstGeom prst="roundRect">
            <a:avLst>
              <a:gd name="adj" fmla="val 1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9DC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82050" y="3872230"/>
            <a:ext cx="2095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回溯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82050" y="4215130"/>
            <a:ext cx="21526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每周目一次，恢复前一天并保留回忆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114800" y="5753100"/>
            <a:ext cx="3962400" cy="361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这些功能最终服务同一件事：让玩家看见自己的选择如何积累成一个假期。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"/>
          <a:srcRect t="32499" b="32519"/>
          <a:stretch>
            <a:fillRect/>
          </a:stretch>
        </p:blipFill>
        <p:spPr>
          <a:xfrm>
            <a:off x="5838825" y="3776980"/>
            <a:ext cx="2505710" cy="19037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rcRect t="11389" b="51388"/>
          <a:stretch>
            <a:fillRect/>
          </a:stretch>
        </p:blipFill>
        <p:spPr>
          <a:xfrm>
            <a:off x="5838825" y="1740535"/>
            <a:ext cx="2510155" cy="20294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 t="7499" b="7426"/>
          <a:stretch>
            <a:fillRect/>
          </a:stretch>
        </p:blipFill>
        <p:spPr>
          <a:xfrm>
            <a:off x="3634740" y="1684655"/>
            <a:ext cx="2182495" cy="40322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DEMO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UI 设计系统与主题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统一设计变量管理色彩、卡片、按钮、图标与动效；换主题时整页同步变化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t="24807" b="24807"/>
          <a:stretch>
            <a:fillRect/>
          </a:stretch>
        </p:blipFill>
        <p:spPr>
          <a:xfrm>
            <a:off x="685800" y="2190750"/>
            <a:ext cx="2381250" cy="2133600"/>
          </a:xfrm>
          <a:prstGeom prst="roundRect">
            <a:avLst>
              <a:gd name="adj" fmla="val 10713"/>
            </a:avLst>
          </a:prstGeom>
          <a:ln w="12700">
            <a:noFill/>
            <a:prstDash val="solid"/>
          </a:ln>
        </p:spPr>
      </p:pic>
      <p:sp>
        <p:nvSpPr>
          <p:cNvPr id="13" name="AutoShape 13"/>
          <p:cNvSpPr/>
          <p:nvPr/>
        </p:nvSpPr>
        <p:spPr>
          <a:xfrm>
            <a:off x="876300" y="3867150"/>
            <a:ext cx="2000250" cy="457200"/>
          </a:xfrm>
          <a:prstGeom prst="roundRect">
            <a:avLst>
              <a:gd name="adj" fmla="val 25000"/>
            </a:avLst>
          </a:prstGeom>
          <a:solidFill>
            <a:srgbClr val="FFB649">
              <a:alpha val="92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76300" y="3938905"/>
            <a:ext cx="2000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暖色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t="24807" b="24807"/>
          <a:stretch>
            <a:fillRect/>
          </a:stretch>
        </p:blipFill>
        <p:spPr>
          <a:xfrm>
            <a:off x="3429000" y="2190750"/>
            <a:ext cx="2381250" cy="2133600"/>
          </a:xfrm>
          <a:prstGeom prst="roundRect">
            <a:avLst>
              <a:gd name="adj" fmla="val 10713"/>
            </a:avLst>
          </a:prstGeom>
          <a:ln w="12700">
            <a:noFill/>
            <a:prstDash val="solid"/>
          </a:ln>
        </p:spPr>
      </p:pic>
      <p:sp>
        <p:nvSpPr>
          <p:cNvPr id="16" name="AutoShape 16"/>
          <p:cNvSpPr/>
          <p:nvPr/>
        </p:nvSpPr>
        <p:spPr>
          <a:xfrm>
            <a:off x="3619500" y="3867150"/>
            <a:ext cx="2000250" cy="457200"/>
          </a:xfrm>
          <a:prstGeom prst="roundRect">
            <a:avLst>
              <a:gd name="adj" fmla="val 25000"/>
            </a:avLst>
          </a:prstGeom>
          <a:solidFill>
            <a:srgbClr val="2589E8">
              <a:alpha val="92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19500" y="3938905"/>
            <a:ext cx="2000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蓝色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 t="24807" b="24807"/>
          <a:stretch>
            <a:fillRect/>
          </a:stretch>
        </p:blipFill>
        <p:spPr>
          <a:xfrm>
            <a:off x="6172200" y="2190750"/>
            <a:ext cx="2381250" cy="2133600"/>
          </a:xfrm>
          <a:prstGeom prst="roundRect">
            <a:avLst>
              <a:gd name="adj" fmla="val 10713"/>
            </a:avLst>
          </a:prstGeom>
          <a:ln w="12700">
            <a:noFill/>
            <a:prstDash val="solid"/>
          </a:ln>
        </p:spPr>
      </p:pic>
      <p:sp>
        <p:nvSpPr>
          <p:cNvPr id="19" name="AutoShape 19"/>
          <p:cNvSpPr/>
          <p:nvPr/>
        </p:nvSpPr>
        <p:spPr>
          <a:xfrm>
            <a:off x="6362700" y="3867150"/>
            <a:ext cx="2000250" cy="457200"/>
          </a:xfrm>
          <a:prstGeom prst="roundRect">
            <a:avLst>
              <a:gd name="adj" fmla="val 25000"/>
            </a:avLst>
          </a:prstGeom>
          <a:solidFill>
            <a:srgbClr val="42C7A0">
              <a:alpha val="92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62700" y="3938905"/>
            <a:ext cx="2000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绿色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rcRect t="24807" b="24807"/>
          <a:stretch>
            <a:fillRect/>
          </a:stretch>
        </p:blipFill>
        <p:spPr>
          <a:xfrm>
            <a:off x="8915400" y="2190750"/>
            <a:ext cx="2381250" cy="2133600"/>
          </a:xfrm>
          <a:prstGeom prst="roundRect">
            <a:avLst>
              <a:gd name="adj" fmla="val 10713"/>
            </a:avLst>
          </a:prstGeom>
          <a:ln w="12700">
            <a:noFill/>
            <a:prstDash val="solid"/>
          </a:ln>
        </p:spPr>
      </p:pic>
      <p:sp>
        <p:nvSpPr>
          <p:cNvPr id="22" name="AutoShape 22"/>
          <p:cNvSpPr/>
          <p:nvPr/>
        </p:nvSpPr>
        <p:spPr>
          <a:xfrm>
            <a:off x="9105900" y="3867150"/>
            <a:ext cx="2000250" cy="457200"/>
          </a:xfrm>
          <a:prstGeom prst="roundRect">
            <a:avLst>
              <a:gd name="adj" fmla="val 25000"/>
            </a:avLst>
          </a:prstGeom>
          <a:solidFill>
            <a:srgbClr val="8B73E6">
              <a:alpha val="92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05900" y="3938905"/>
            <a:ext cx="2000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夜色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371600" y="515302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600200" y="5143500"/>
            <a:ext cx="9296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页面背景、手机桌面共用同一张主题壁纸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71600" y="545782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00200" y="5448300"/>
            <a:ext cx="9296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卡片、按钮、数值药丸和 30+ 内联 SVG 图标共用设计变量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371600" y="5762625"/>
            <a:ext cx="2095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600200" y="5753100"/>
            <a:ext cx="9296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动态效果可在设置中关闭，横竖屏切换保证不同偏好下都能阅读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14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36080" y="4718685"/>
            <a:ext cx="3893820" cy="17938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PROBLEMS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研发问题与解决方案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两个问题都围绕同一件事：玩家离开或跨天后，叙事状态能否保持正确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04850" y="2114550"/>
            <a:ext cx="5067300" cy="3543300"/>
          </a:xfrm>
          <a:prstGeom prst="roundRect">
            <a:avLst>
              <a:gd name="adj" fmla="val 64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04850" y="2114550"/>
            <a:ext cx="5067300" cy="514350"/>
          </a:xfrm>
          <a:prstGeom prst="roundRect">
            <a:avLst>
              <a:gd name="adj" fmla="val 44444"/>
            </a:avLst>
          </a:prstGeom>
          <a:solidFill>
            <a:srgbClr val="FF7D73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 sz="1200"/>
          </a:p>
        </p:txBody>
      </p:sp>
      <p:sp>
        <p:nvSpPr>
          <p:cNvPr id="14" name="AutoShape 14"/>
          <p:cNvSpPr/>
          <p:nvPr/>
        </p:nvSpPr>
        <p:spPr>
          <a:xfrm>
            <a:off x="990600" y="2266950"/>
            <a:ext cx="438150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7D7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问题一：打开手机导致剧情丢失</a:t>
            </a:r>
            <a:endParaRPr lang="en-US" sz="1200" b="1" i="0" u="none" strike="noStrike">
              <a:solidFill>
                <a:srgbClr val="FF7D7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90600" y="2876550"/>
            <a:ext cx="4457700" cy="704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今日页原先通过 switchTab 打开手机或设置。非 tab 页被销毁，已进入事件去重表的剧情无法再恢复。</a:t>
            </a:r>
            <a:endParaRPr lang="en-US" sz="1200" b="0" i="0" u="none" strike="noStrike">
              <a:solidFill>
                <a:srgbClr val="6481A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90600" y="3943350"/>
            <a:ext cx="2095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组件化 + 页内浮窗</a:t>
            </a:r>
            <a:endParaRPr lang="en-US" b="1" i="0" u="none" strike="noStrike">
              <a:solidFill>
                <a:srgbClr val="2589E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90600" y="4305300"/>
            <a:ext cx="4457700" cy="742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把 phone-panel / settings-panel 抽成复用组件，今日页在原地弹出浮窗，完成后继续当前结果文本。</a:t>
            </a:r>
            <a:endParaRPr lang="en-US" sz="1200" b="0" i="0" u="none" strike="noStrike">
              <a:solidFill>
                <a:srgbClr val="173D7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2200" y="2114550"/>
            <a:ext cx="5067300" cy="3543300"/>
          </a:xfrm>
          <a:prstGeom prst="roundRect">
            <a:avLst>
              <a:gd name="adj" fmla="val 64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172200" y="2114550"/>
            <a:ext cx="5067300" cy="514350"/>
          </a:xfrm>
          <a:prstGeom prst="roundRect">
            <a:avLst>
              <a:gd name="adj" fmla="val 44444"/>
            </a:avLst>
          </a:prstGeom>
          <a:solidFill>
            <a:srgbClr val="42C7A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 sz="1200"/>
          </a:p>
        </p:txBody>
      </p:sp>
      <p:sp>
        <p:nvSpPr>
          <p:cNvPr id="20" name="AutoShape 20"/>
          <p:cNvSpPr/>
          <p:nvPr/>
        </p:nvSpPr>
        <p:spPr>
          <a:xfrm>
            <a:off x="6457950" y="2266950"/>
            <a:ext cx="4381500" cy="2381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2C7A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问题二：事件池构建与随机选择</a:t>
            </a:r>
            <a:endParaRPr lang="en-US" sz="1200" b="1" i="0" u="none" strike="noStrike">
              <a:solidFill>
                <a:srgbClr val="42C7A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57950" y="2876550"/>
            <a:ext cx="4457700" cy="704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事件需要同时保证关键剧情必现、普通事件不重复，且不能与已触发事件冲突。</a:t>
            </a:r>
            <a:endParaRPr lang="en-US" sz="1200" b="0" i="0" u="none" strike="noStrike">
              <a:solidFill>
                <a:srgbClr val="6481A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57950" y="3943350"/>
            <a:ext cx="20955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分层事件池 + 加权随机</a:t>
            </a:r>
            <a:endParaRPr lang="en-US" b="1" i="0" u="none" strike="noStrike">
              <a:solidFill>
                <a:srgbClr val="2589E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57950" y="4305300"/>
            <a:ext cx="4457700" cy="742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73D7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关键事件池按周目排期必现，普通事件池用去重随机抽取，同时检查时段和属性前置条件。</a:t>
            </a:r>
            <a:endParaRPr lang="en-US" sz="1200" b="0" i="0" u="none" strike="noStrike">
              <a:solidFill>
                <a:srgbClr val="173D7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47700" y="514350"/>
            <a:ext cx="266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" b="1" i="0" u="none" strike="noStrike" spc="1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05 · REFLECTION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781050"/>
            <a:ext cx="8096250" cy="47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23D76"/>
                </a:solidFill>
                <a:latin typeface="Noto Sans SC"/>
                <a:ea typeface="Noto Sans SC"/>
                <a:cs typeface="Noto Sans SC"/>
                <a:sym typeface="Noto Sans SC"/>
              </a:rPr>
              <a:t>研发过程体会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1343025"/>
            <a:ext cx="8382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在文字游戏里，可靠的状态机比“功能看起来很多”更能决定真实体验</a:t>
            </a:r>
            <a:r>
              <a:rPr lang="zh-CN" altLang="en-US" sz="1025" b="0" i="0" u="none" strike="noStrike">
                <a:solidFill>
                  <a:srgbClr val="6481A5"/>
                </a:solidFill>
                <a:latin typeface="Noto Sans SC"/>
                <a:ea typeface="宋体" charset="0"/>
                <a:cs typeface="Noto Sans SC"/>
                <a:sym typeface="Noto Sans SC"/>
              </a:rPr>
              <a:t>，成就也可以带给玩家积极的</a:t>
            </a:r>
            <a:r>
              <a:rPr lang="zh-CN" altLang="en-US" sz="1025" b="0" i="0" u="none" strike="noStrike">
                <a:solidFill>
                  <a:srgbClr val="6481A5"/>
                </a:solidFill>
                <a:latin typeface="Noto Sans SC"/>
                <a:ea typeface="宋体" charset="0"/>
                <a:cs typeface="Noto Sans SC"/>
                <a:sym typeface="Noto Sans SC"/>
              </a:rPr>
              <a:t>正反馈</a:t>
            </a:r>
            <a:endParaRPr lang="zh-CN" altLang="en-US" sz="1025" b="0" i="0" u="none" strike="noStrike">
              <a:solidFill>
                <a:srgbClr val="6481A5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7700" y="17145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C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l="-1022" t="42589" r="1022" b="15815"/>
          <a:stretch>
            <a:fillRect/>
          </a:stretch>
        </p:blipFill>
        <p:spPr>
          <a:xfrm>
            <a:off x="7429500" y="2114550"/>
            <a:ext cx="3543300" cy="3200400"/>
          </a:xfrm>
          <a:prstGeom prst="roundRect">
            <a:avLst>
              <a:gd name="adj" fmla="val 714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93115" y="2286000"/>
            <a:ext cx="5905500" cy="857250"/>
          </a:xfrm>
          <a:prstGeom prst="roundRect">
            <a:avLst>
              <a:gd name="adj" fmla="val 177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09650" y="2428875"/>
            <a:ext cx="438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76400" y="2324100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先把循环写清楚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676400" y="2638425"/>
            <a:ext cx="462915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先把状态、时间、数值与结果的循环写清楚，再让实现落地，避免边做边改导致逻辑混乱。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81050" y="3333750"/>
            <a:ext cx="5905500" cy="857250"/>
          </a:xfrm>
          <a:prstGeom prst="roundRect">
            <a:avLst>
              <a:gd name="adj" fmla="val 177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09650" y="3495675"/>
            <a:ext cx="438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76400" y="3390900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把状态当成核心产品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76400" y="3705225"/>
            <a:ext cx="462915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页面离开、联动暂停、跨日和回溯都要有可解释的恢复规则，状态连续性是体验的核心。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1050" y="4381500"/>
            <a:ext cx="5905500" cy="857250"/>
          </a:xfrm>
          <a:prstGeom prst="roundRect">
            <a:avLst>
              <a:gd name="adj" fmla="val 177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C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09650" y="4562475"/>
            <a:ext cx="438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78C8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76400" y="4457700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用完整路径验证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676400" y="4772025"/>
            <a:ext cx="462915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单点功能通过不代表一个周目可靠，连续游玩和完整路径验证，才能暴露边界问题。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647700" y="508000"/>
            <a:ext cx="20955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REFLECTION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" y="787400"/>
            <a:ext cx="7429500" cy="5524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1371600"/>
            <a:ext cx="80010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围绕一个完整周目，完成内容、交互与验证的研发闭环</a:t>
            </a:r>
            <a:r>
              <a:rPr lang="zh-CN" altLang="en-US" sz="1300" b="0" i="0" u="none" strike="noStrike">
                <a:solidFill>
                  <a:srgbClr val="5F789E"/>
                </a:solidFill>
                <a:latin typeface="Noto Sans SC"/>
                <a:ea typeface="宋体" charset="0"/>
                <a:cs typeface="Noto Sans SC"/>
                <a:sym typeface="Noto Sans SC"/>
              </a:rPr>
              <a:t>，同时包含隐藏结局供玩家</a:t>
            </a:r>
            <a:r>
              <a:rPr lang="zh-CN" altLang="en-US" sz="1300" b="0" i="0" u="none" strike="noStrike">
                <a:solidFill>
                  <a:srgbClr val="5F789E"/>
                </a:solidFill>
                <a:latin typeface="Noto Sans SC"/>
                <a:ea typeface="宋体" charset="0"/>
                <a:cs typeface="Noto Sans SC"/>
                <a:sym typeface="Noto Sans SC"/>
              </a:rPr>
              <a:t>探索</a:t>
            </a:r>
            <a:endParaRPr lang="zh-CN" altLang="en-US" sz="1300" b="0" i="0" u="none" strike="noStrike">
              <a:solidFill>
                <a:srgbClr val="5F789E"/>
              </a:solidFill>
              <a:latin typeface="Noto Sans SC"/>
              <a:ea typeface="宋体" charset="0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" y="1739900"/>
            <a:ext cx="10896600" cy="19050"/>
          </a:xfrm>
          <a:prstGeom prst="roundRect">
            <a:avLst>
              <a:gd name="adj" fmla="val 5000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0955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3495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37 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11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完整假期周期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92500"/>
            <a:ext cx="2413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从回家到开学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20955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429000" y="23495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13 个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29000" y="3111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模拟手机 App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29000" y="3492500"/>
            <a:ext cx="2413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闹钟/聊天/相机等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20955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096000" y="23495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10 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3111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剧情照片槽位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3492500"/>
            <a:ext cx="2413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回忆墙逐步解锁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0" y="20955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9D8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763000" y="23495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4 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63000" y="3111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全局视觉主题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63000" y="3492500"/>
            <a:ext cx="2413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暖/蓝/绿/夜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1910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6495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4450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34 个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18287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事件池构成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51561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24普通 + 10关键事件</a:t>
            </a:r>
            <a:endParaRPr lang="en-US" sz="1100" b="0" i="0" u="none" strike="noStrike">
              <a:solidFill>
                <a:srgbClr val="5F789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429000" y="41910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6495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3429000" y="44450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3 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429000" y="518287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属性数值系统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429000" y="551561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心情/精力/健康</a:t>
            </a:r>
            <a:endParaRPr lang="en-US" sz="1100" b="0" i="0" u="none" strike="noStrike">
              <a:solidFill>
                <a:srgbClr val="5F789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096000" y="41910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6495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096000" y="44450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支持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096000" y="518287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自由上传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096000" y="551561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自定义照片上传</a:t>
            </a:r>
            <a:endParaRPr lang="en-US" sz="1100" b="0" i="0" u="none" strike="noStrike">
              <a:solidFill>
                <a:srgbClr val="5F789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763000" y="4191000"/>
            <a:ext cx="2413000" cy="1778000"/>
          </a:xfrm>
          <a:prstGeom prst="roundRect">
            <a:avLst>
              <a:gd name="adj" fmla="val 8571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6495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763000" y="4445000"/>
            <a:ext cx="241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6 种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763000" y="518287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71D49"/>
                </a:solidFill>
                <a:latin typeface="Noto Sans SC"/>
                <a:ea typeface="Noto Sans SC"/>
                <a:cs typeface="Noto Sans SC"/>
                <a:sym typeface="Noto Sans SC"/>
              </a:rPr>
              <a:t>多结局分支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763000" y="551561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F789E"/>
                </a:solidFill>
                <a:latin typeface="Noto Sans SC"/>
                <a:ea typeface="Noto Sans SC"/>
                <a:cs typeface="Noto Sans SC"/>
                <a:sym typeface="Noto Sans SC"/>
              </a:rPr>
              <a:t>充实/躺平/社交/学霸/摆烂</a:t>
            </a:r>
            <a:endParaRPr lang="en-US" sz="1100" b="0" i="0" u="none" strike="noStrike">
              <a:solidFill>
                <a:srgbClr val="5F789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" name="AutoShape 2"/>
          <p:cNvSpPr/>
          <p:nvPr/>
        </p:nvSpPr>
        <p:spPr>
          <a:xfrm>
            <a:off x="0" y="0"/>
            <a:ext cx="12192000" cy="285750"/>
          </a:xfrm>
          <a:prstGeom prst="roundRect">
            <a:avLst>
              <a:gd name="adj" fmla="val 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2" name="AutoShape 3"/>
          <p:cNvSpPr/>
          <p:nvPr/>
        </p:nvSpPr>
        <p:spPr>
          <a:xfrm>
            <a:off x="0" y="285750"/>
            <a:ext cx="133350" cy="6191250"/>
          </a:xfrm>
          <a:prstGeom prst="roundRect">
            <a:avLst>
              <a:gd name="adj" fmla="val 0"/>
            </a:avLst>
          </a:prstGeom>
          <a:solidFill>
            <a:srgbClr val="BFE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3" name="AutoShape 4"/>
          <p:cNvSpPr/>
          <p:nvPr/>
        </p:nvSpPr>
        <p:spPr>
          <a:xfrm>
            <a:off x="11220450" y="5905500"/>
            <a:ext cx="971550" cy="952500"/>
          </a:xfrm>
          <a:prstGeom prst="roundRect">
            <a:avLst>
              <a:gd name="adj" fmla="val 0"/>
            </a:avLst>
          </a:prstGeom>
          <a:solidFill>
            <a:srgbClr val="E2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4" name="AutoShape 5"/>
          <p:cNvSpPr/>
          <p:nvPr/>
        </p:nvSpPr>
        <p:spPr>
          <a:xfrm>
            <a:off x="11430000" y="6115050"/>
            <a:ext cx="762000" cy="742950"/>
          </a:xfrm>
          <a:prstGeom prst="roundRect">
            <a:avLst>
              <a:gd name="adj" fmla="val 0"/>
            </a:avLst>
          </a:prstGeom>
          <a:solidFill>
            <a:srgbClr val="C9E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5" name="AutoShape 26"/>
          <p:cNvSpPr/>
          <p:nvPr/>
        </p:nvSpPr>
        <p:spPr>
          <a:xfrm>
            <a:off x="11029950" y="6477000"/>
            <a:ext cx="4953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25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17</a:t>
            </a:r>
            <a:endParaRPr lang="en-US" sz="1100"/>
          </a:p>
        </p:txBody>
      </p:sp>
      <p:sp>
        <p:nvSpPr>
          <p:cNvPr id="46" name="AutoShape 10"/>
          <p:cNvSpPr/>
          <p:nvPr/>
        </p:nvSpPr>
        <p:spPr>
          <a:xfrm>
            <a:off x="10725150" y="514350"/>
            <a:ext cx="819150" cy="133350"/>
          </a:xfrm>
          <a:prstGeom prst="roundRect">
            <a:avLst>
              <a:gd name="adj" fmla="val 50000"/>
            </a:avLst>
          </a:prstGeom>
          <a:solidFill>
            <a:srgbClr val="2589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7" name="AutoShape 11"/>
          <p:cNvSpPr/>
          <p:nvPr/>
        </p:nvSpPr>
        <p:spPr>
          <a:xfrm>
            <a:off x="10439400" y="514350"/>
            <a:ext cx="190500" cy="133350"/>
          </a:xfrm>
          <a:prstGeom prst="roundRect">
            <a:avLst>
              <a:gd name="adj" fmla="val 50000"/>
            </a:avLst>
          </a:prstGeom>
          <a:solidFill>
            <a:srgbClr val="78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8" name="AutoShape 25"/>
          <p:cNvSpPr/>
          <p:nvPr/>
        </p:nvSpPr>
        <p:spPr>
          <a:xfrm>
            <a:off x="647700" y="6477000"/>
            <a:ext cx="5048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25" b="0" i="0" u="none" strike="noStrike">
                <a:solidFill>
                  <a:srgbClr val="6481A5"/>
                </a:solidFill>
                <a:latin typeface="Noto Sans SC"/>
                <a:ea typeface="Noto Sans SC"/>
                <a:cs typeface="Noto Sans SC"/>
                <a:sym typeface="Noto Sans SC"/>
              </a:rPr>
              <a:t>《暑假37天》互动文字游戏 · 项目研发汇报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89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8905" b="289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2368526" y="1384639"/>
            <a:ext cx="1510566" cy="1510566"/>
          </a:xfrm>
          <a:prstGeom prst="rect">
            <a:avLst/>
          </a:prstGeom>
          <a:noFill/>
          <a:ln w="762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681E4">
              <a:alpha val="74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247650"/>
          </a:xfrm>
          <a:prstGeom prst="roundRect">
            <a:avLst>
              <a:gd name="adj" fmla="val 0"/>
            </a:avLst>
          </a:prstGeom>
          <a:solidFill>
            <a:srgbClr val="FFFFFF">
              <a:alpha val="32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" y="1676400"/>
            <a:ext cx="4953000" cy="666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77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37 </a:t>
            </a:r>
            <a:r>
              <a:rPr lang="en-US" sz="377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Days</a:t>
            </a:r>
            <a:endParaRPr lang="en-US" sz="3775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47700" y="2514600"/>
            <a:ext cx="6572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7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让每一次选择，留下可以回看的假期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3314700"/>
            <a:ext cx="5372100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" y="3619500"/>
            <a:ext cx="5905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DDF4FF"/>
                </a:solidFill>
                <a:latin typeface="Noto Sans SC"/>
                <a:ea typeface="Noto Sans SC"/>
                <a:cs typeface="Noto Sans SC"/>
                <a:sym typeface="Noto Sans SC"/>
              </a:rPr>
              <a:t>37 天完整周目 · 本地状态机 · 可验证的沉浸体验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5334000"/>
            <a:ext cx="28575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12" name="AutoShape 8"/>
          <p:cNvSpPr/>
          <p:nvPr/>
        </p:nvSpPr>
        <p:spPr>
          <a:xfrm>
            <a:off x="647700" y="7810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sp>
        <p:nvSpPr>
          <p:cNvPr id="13" name="AutoShape 9"/>
          <p:cNvSpPr/>
          <p:nvPr/>
        </p:nvSpPr>
        <p:spPr>
          <a:xfrm>
            <a:off x="762000" y="833120"/>
            <a:ext cx="1200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00" b="1" i="0" u="none" strike="noStrike">
                <a:solidFill>
                  <a:srgbClr val="2589E8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 · 项目研发汇报</a:t>
            </a:r>
            <a:endParaRPr lang="en-US" sz="1100"/>
          </a:p>
        </p:txBody>
      </p:sp>
      <p:sp>
        <p:nvSpPr>
          <p:cNvPr id="14" name="AutoShape 3"/>
          <p:cNvSpPr/>
          <p:nvPr/>
        </p:nvSpPr>
        <p:spPr>
          <a:xfrm>
            <a:off x="0" y="237490"/>
            <a:ext cx="121285" cy="685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3624</Words>
  <Application>WPS 演示</Application>
  <PresentationFormat/>
  <Paragraphs>950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Noto Sans SC</vt:lpstr>
      <vt:lpstr>Thonburi</vt:lpstr>
      <vt:lpstr>Songti SC</vt:lpstr>
      <vt:lpstr>宋体</vt:lpstr>
      <vt:lpstr>汉仪书宋二KW</vt:lpstr>
      <vt:lpstr>微软雅黑</vt:lpstr>
      <vt:lpstr>方正雅意黑 GB18030L2</vt:lpstr>
      <vt:lpstr>Arial Unicode MS</vt:lpstr>
      <vt:lpstr>Noto Sans SC</vt:lpstr>
      <vt:lpstr>苹方-简</vt:lpstr>
      <vt:lpstr>Office 主题​​</vt:lpstr>
      <vt:lpstr>Office 主题​​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戚晓旭</cp:lastModifiedBy>
  <cp:revision>3</cp:revision>
  <dcterms:created xsi:type="dcterms:W3CDTF">2026-09-19T00:54:56Z</dcterms:created>
  <dcterms:modified xsi:type="dcterms:W3CDTF">2026-09-19T00:54:56Z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1799F76E3CBB4D2A5BBEAD6A60A5C248_42</vt:lpwstr>
  </property>
</Properties>
</file>